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055F70-C2CC-4978-8FDF-217E97B65340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A1E7DA-84F9-4373-A664-72D0C61A7BFF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КУРСОВОЙ ПРОЕКТ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02EB5F-5932-4929-BB36-40D9317E306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572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ER-</a:t>
            </a:r>
            <a:r>
              <a:rPr lang="ru-RU" sz="3600" b="1" dirty="0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Designer</a:t>
            </a: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: визуальное проектирование базы данных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AE6BEA6-0A09-4E30-B3B4-B0D82995466E}"/>
              </a:ext>
            </a:extLst>
          </p:cNvPr>
          <p:cNvSpPr>
            <a:spLocks noGrp="1"/>
          </p:cNvSpPr>
          <p:nvPr/>
        </p:nvSpPr>
        <p:spPr>
          <a:xfrm>
            <a:off x="704850" y="2495550"/>
            <a:ext cx="5334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Desktop-приложение для создания ER-диаграмм, настройки связей между полями и генерации SQL-скрипта </a:t>
            </a:r>
            <a:r>
              <a:rPr lang="ru-RU" sz="200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PostgreSQL</a:t>
            </a: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548238-CDC4-4954-8611-A704D617AB3F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00000" cy="9525"/>
          </a:xfrm>
          <a:prstGeom prst="rect">
            <a:avLst/>
          </a:prstGeom>
          <a:solidFill>
            <a:srgbClr val="D0D7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8C4F6B3-66E8-4E56-9B99-BB8D79C14571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Горбунов Максим Сергеевич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7024B04-731D-46E1-8339-3A678A90851D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16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Руководитель: А.А. Ягелло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8B600A9-BF98-44D0-A725-7A97FA7991BB}"/>
              </a:ext>
            </a:extLst>
          </p:cNvPr>
          <p:cNvSpPr>
            <a:spLocks noGrp="1"/>
          </p:cNvSpPr>
          <p:nvPr/>
        </p:nvSpPr>
        <p:spPr>
          <a:xfrm>
            <a:off x="6720268" y="5572125"/>
            <a:ext cx="1714500" cy="400050"/>
          </a:xfrm>
          <a:prstGeom prst="rect">
            <a:avLst/>
          </a:prstGeom>
          <a:solidFill>
            <a:srgbClr val="E5F0F1"/>
          </a:solidFill>
          <a:ln w="0">
            <a:noFill/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Python + PyQt6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CC110C-4A7A-496E-9B3D-EF9BB7901E44}"/>
              </a:ext>
            </a:extLst>
          </p:cNvPr>
          <p:cNvSpPr>
            <a:spLocks noGrp="1"/>
          </p:cNvSpPr>
          <p:nvPr/>
        </p:nvSpPr>
        <p:spPr>
          <a:xfrm>
            <a:off x="8686800" y="5581650"/>
            <a:ext cx="1066800" cy="400050"/>
          </a:xfrm>
          <a:prstGeom prst="rect">
            <a:avLst/>
          </a:prstGeom>
          <a:solidFill>
            <a:srgbClr val="E5F0F1"/>
          </a:solidFill>
          <a:ln w="0">
            <a:noFill/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FB1A57A-3434-49B2-B4DB-55E03A5AAD9E}"/>
              </a:ext>
            </a:extLst>
          </p:cNvPr>
          <p:cNvSpPr>
            <a:spLocks noGrp="1"/>
          </p:cNvSpPr>
          <p:nvPr/>
        </p:nvSpPr>
        <p:spPr>
          <a:xfrm>
            <a:off x="9963150" y="5581650"/>
            <a:ext cx="1524000" cy="400050"/>
          </a:xfrm>
          <a:prstGeom prst="rect">
            <a:avLst/>
          </a:prstGeom>
          <a:solidFill>
            <a:srgbClr val="E5F0F1"/>
          </a:solidFill>
          <a:ln w="0">
            <a:noFill/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20268" y="1990725"/>
            <a:ext cx="476231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89B5035-81B5-4651-B1AC-D399AA2E794D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AF7DEE-B3B5-4DC2-8D8E-FEF023FA7BCA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ЗАДАЧА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6862AB-D683-4912-907C-2AEC5C588D9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906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ER-диаграмма должна быть моделью, а не просто рисунком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846EB6-C10F-437A-8DF7-8AA0B3197AA6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8382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Обычная схема показывает идею, но не хранит структуру, которую можно проверить, сохранить и превратить в SQL.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0AA546-CCDF-4720-82C8-2788DC86C00F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1676400" cy="990600"/>
          </a:xfrm>
          <a:prstGeom prst="rect">
            <a:avLst/>
          </a:prstGeom>
          <a:solidFill>
            <a:srgbClr val="F7F9FA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Сущности</a:t>
            </a:r>
          </a:p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и атрибуты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5E9BD27-146B-4B5A-AD1B-A3CC3F3E4642}"/>
              </a:ext>
            </a:extLst>
          </p:cNvPr>
          <p:cNvSpPr>
            <a:spLocks noGrp="1"/>
          </p:cNvSpPr>
          <p:nvPr/>
        </p:nvSpPr>
        <p:spPr>
          <a:xfrm>
            <a:off x="3295650" y="3200400"/>
            <a:ext cx="2457450" cy="990600"/>
          </a:xfrm>
          <a:prstGeom prst="rect">
            <a:avLst/>
          </a:prstGeom>
          <a:solidFill>
            <a:srgbClr val="F7F9FA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Связи между</a:t>
            </a:r>
          </a:p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конкретными полями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60C645-BAF7-4BE1-A58E-0B865A3DA72E}"/>
              </a:ext>
            </a:extLst>
          </p:cNvPr>
          <p:cNvSpPr>
            <a:spLocks noGrp="1"/>
          </p:cNvSpPr>
          <p:nvPr/>
        </p:nvSpPr>
        <p:spPr>
          <a:xfrm>
            <a:off x="6553200" y="3200400"/>
            <a:ext cx="2552700" cy="990600"/>
          </a:xfrm>
          <a:prstGeom prst="rect">
            <a:avLst/>
          </a:prstGeom>
          <a:solidFill>
            <a:srgbClr val="F7F9FA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Ограничения</a:t>
            </a:r>
          </a:p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PK, NOT NULL,</a:t>
            </a:r>
          </a:p>
          <a:p>
            <a:pPr algn="ctr">
              <a:defRPr sz="16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UNIQUE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C727A50-0C43-4C4E-A047-E31CFAF58EB5}"/>
              </a:ext>
            </a:extLst>
          </p:cNvPr>
          <p:cNvSpPr>
            <a:spLocks noGrp="1"/>
          </p:cNvSpPr>
          <p:nvPr/>
        </p:nvSpPr>
        <p:spPr>
          <a:xfrm>
            <a:off x="9810750" y="3200400"/>
            <a:ext cx="2000250" cy="990600"/>
          </a:xfrm>
          <a:prstGeom prst="rect">
            <a:avLst/>
          </a:prstGeom>
          <a:solidFill>
            <a:srgbClr val="E5F0F1"/>
          </a:solidFill>
          <a:ln w="9525">
            <a:solidFill>
              <a:srgbClr val="2F6F7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6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SQL-</a:t>
            </a:r>
            <a:r>
              <a:rPr lang="ru-RU" sz="160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скрипт</a:t>
            </a:r>
          </a:p>
          <a:p>
            <a:pPr algn="ctr">
              <a:defRPr sz="16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60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для </a:t>
            </a:r>
            <a:r>
              <a:rPr lang="en-US" sz="160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98F6C3-B2C7-46FB-960B-5DE3033A4DEC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800100" cy="19050"/>
          </a:xfrm>
          <a:prstGeom prst="rect">
            <a:avLst/>
          </a:prstGeom>
          <a:solidFill>
            <a:srgbClr val="D5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32F4A2-393C-408A-AF2E-B24CE3582261}"/>
              </a:ext>
            </a:extLst>
          </p:cNvPr>
          <p:cNvSpPr>
            <a:spLocks noGrp="1"/>
          </p:cNvSpPr>
          <p:nvPr/>
        </p:nvSpPr>
        <p:spPr>
          <a:xfrm>
            <a:off x="5753100" y="3695700"/>
            <a:ext cx="800100" cy="19050"/>
          </a:xfrm>
          <a:prstGeom prst="rect">
            <a:avLst/>
          </a:prstGeom>
          <a:solidFill>
            <a:srgbClr val="D5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155988C-3E1A-41D3-9ADB-14BC72D6AB2D}"/>
              </a:ext>
            </a:extLst>
          </p:cNvPr>
          <p:cNvSpPr>
            <a:spLocks noGrp="1"/>
          </p:cNvSpPr>
          <p:nvPr/>
        </p:nvSpPr>
        <p:spPr>
          <a:xfrm>
            <a:off x="9105900" y="3695700"/>
            <a:ext cx="7048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3B09B37-BCF9-47FE-A129-AF621F597250}"/>
              </a:ext>
            </a:extLst>
          </p:cNvPr>
          <p:cNvSpPr>
            <a:spLocks noGrp="1"/>
          </p:cNvSpPr>
          <p:nvPr/>
        </p:nvSpPr>
        <p:spPr>
          <a:xfrm>
            <a:off x="2517838" y="5024628"/>
            <a:ext cx="7156323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Цель проекта: </a:t>
            </a:r>
            <a:r>
              <a:rPr lang="ru-RU" sz="24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связать визуальное проектирование с реальным результатом для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611939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1E8389-E422-4DB7-8B2C-4FB8C9F0E5B3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F7AD00-EE89-4FF1-95DC-6F4CFDC6A0E7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СТРУКТУРА РЕШЕНИЯ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39E5AE-B7DF-43E9-A2A5-008A194AA6F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Приложение разделено на модель, интерфейс и генерацию результата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3C444B-1C8A-473F-AC63-F8AEF2C75826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8096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Пользователь видит диаграмму, а внутри сохраняется объектная модель проекта.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8122" y="2724150"/>
            <a:ext cx="6955757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0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1822624-FF01-4E94-8B9A-AC7CBEC566AF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2F8C13-3021-4691-8B6E-6F5B6E128001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МОДЕЛЬ ДАННЫХ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56C190-06A4-4B2E-807A-C6175852924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9525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Проект хранит не картинку, а сущности, поля и связи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07DEBA-D45A-4658-8A92-8B6C0EB8D144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Модель используется для сохранения, загрузки, отмены действий и генерации SQL.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8122" y="2724150"/>
            <a:ext cx="6955757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4CCD1F-91D6-4273-BCE0-E9C2FD1A7597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A7E077-935D-46BB-AB8B-A8038BFA5E23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РАБОЧИЙ СЦЕНАРИЙ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95A45C-76CD-445F-ADFF-A68D841E31C8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9906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Пользовательский сценарий строится вокруг холста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A03F8B-18BB-4F50-9A91-6D0671589BA0}"/>
              </a:ext>
            </a:extLst>
          </p:cNvPr>
          <p:cNvSpPr>
            <a:spLocks noGrp="1"/>
          </p:cNvSpPr>
          <p:nvPr/>
        </p:nvSpPr>
        <p:spPr>
          <a:xfrm>
            <a:off x="7980426" y="2305050"/>
            <a:ext cx="31432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Добавить сущности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Заполнить поля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Настроить ключи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 Провести связь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 Получить SQL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6DBC8D-6464-461C-A46C-9689F4FE03FD}"/>
              </a:ext>
            </a:extLst>
          </p:cNvPr>
          <p:cNvSpPr>
            <a:spLocks noGrp="1"/>
          </p:cNvSpPr>
          <p:nvPr/>
        </p:nvSpPr>
        <p:spPr>
          <a:xfrm>
            <a:off x="7768590" y="2241042"/>
            <a:ext cx="19050" cy="16383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51A464-6551-407F-B245-A609ABC994E8}"/>
              </a:ext>
            </a:extLst>
          </p:cNvPr>
          <p:cNvSpPr>
            <a:spLocks noGrp="1"/>
          </p:cNvSpPr>
          <p:nvPr/>
        </p:nvSpPr>
        <p:spPr>
          <a:xfrm>
            <a:off x="7980426" y="4428868"/>
            <a:ext cx="33337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Холст остаётся основной рабочей областью, а панели инструментов и свойств помогают управлять выбранными объектами.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359EBF-31D8-A6EB-8067-1A262E84AB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410"/>
          <a:stretch/>
        </p:blipFill>
        <p:spPr>
          <a:xfrm>
            <a:off x="685800" y="2552957"/>
            <a:ext cx="6615669" cy="266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0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2F51632-F61C-4730-AAA7-4AB00271A1CD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9747091-D7A3-4E37-AFD6-4CD431318658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КЛЮЧЕВАЯ ФУНКЦИЯ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3329AA1-8606-439F-9DDF-D8245385E1CD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8858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Связь создаётся между конкретными полями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C58159-9C89-462D-90D6-071EFBAF4292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5810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Пользователь зажимает кнопку мыши на одном поле и отпускает на другом. В диалоге остаётся выбрать тип отношения.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86600" y="2344499"/>
            <a:ext cx="3600450" cy="283575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3486976"/>
            <a:ext cx="5334000" cy="164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9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6EA775-E8BD-4281-95CA-1055195F11FD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EC9CEC-5328-4F1B-A6C9-6C936A720260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КОД: </a:t>
            </a:r>
            <a:r>
              <a:rPr lang="en-US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1CA25D-098D-489C-BEA0-483437B24AF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9810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Генератор определяет, где должен быть внешний ключ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1864FF-E12E-4B0C-86DC-4BFBF2E5DE8C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5905500" cy="2381250"/>
          </a:xfrm>
          <a:prstGeom prst="rect">
            <a:avLst/>
          </a:prstGeom>
          <a:solidFill>
            <a:srgbClr val="FBFCFD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EE1953-7A02-4776-AC17-58DD929CF9A9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514350" cy="2381250"/>
          </a:xfrm>
          <a:prstGeom prst="rect">
            <a:avLst/>
          </a:prstGeom>
          <a:solidFill>
            <a:srgbClr val="EEF3F4"/>
          </a:solidFill>
          <a:ln w="9525">
            <a:solidFill>
              <a:srgbClr val="EEF3F4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C3B3E9-5893-4C59-B997-2871E89797FE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857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1</a:t>
            </a: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3</a:t>
            </a: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4</a:t>
            </a: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C688289-609B-4423-A4E3-E2E09F2C87FF}"/>
              </a:ext>
            </a:extLst>
          </p:cNvPr>
          <p:cNvSpPr>
            <a:spLocks noGrp="1"/>
          </p:cNvSpPr>
          <p:nvPr/>
        </p:nvSpPr>
        <p:spPr>
          <a:xfrm>
            <a:off x="1447800" y="2476500"/>
            <a:ext cx="50101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if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rel.type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RelationType.ONE_TO_MANY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parent_table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= source</a:t>
            </a:r>
          </a:p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child_table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= target</a:t>
            </a:r>
          </a:p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parent_field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rel.source_field</a:t>
            </a:r>
            <a:endParaRPr lang="en-US" sz="16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child_field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rel.target_field</a:t>
            </a:r>
            <a:endParaRPr lang="en-US" sz="1600" b="0" dirty="0">
              <a:solidFill>
                <a:srgbClr val="11182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74CEDF9-7251-4AF1-953C-D101EDEBF7C1}"/>
              </a:ext>
            </a:extLst>
          </p:cNvPr>
          <p:cNvSpPr>
            <a:spLocks noGrp="1"/>
          </p:cNvSpPr>
          <p:nvPr/>
        </p:nvSpPr>
        <p:spPr>
          <a:xfrm>
            <a:off x="7277100" y="2343150"/>
            <a:ext cx="37147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Для связи 1:N первая сущность считается родительской, а внешний ключ записывается в дочернюю таблицу.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7F4D649-8D1A-4607-A645-B88CCC8BFD68}"/>
              </a:ext>
            </a:extLst>
          </p:cNvPr>
          <p:cNvSpPr>
            <a:spLocks noGrp="1"/>
          </p:cNvSpPr>
          <p:nvPr/>
        </p:nvSpPr>
        <p:spPr>
          <a:xfrm>
            <a:off x="7277100" y="4191000"/>
            <a:ext cx="1485900" cy="571500"/>
          </a:xfrm>
          <a:prstGeom prst="rect">
            <a:avLst/>
          </a:prstGeom>
          <a:solidFill>
            <a:srgbClr val="E5F0F1"/>
          </a:solidFill>
          <a:ln w="9525">
            <a:solidFill>
              <a:srgbClr val="2F6F7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2000" b="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Users.id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8C1EEB-3A38-4E23-8C7C-22944B8E49A7}"/>
              </a:ext>
            </a:extLst>
          </p:cNvPr>
          <p:cNvSpPr>
            <a:spLocks noGrp="1"/>
          </p:cNvSpPr>
          <p:nvPr/>
        </p:nvSpPr>
        <p:spPr>
          <a:xfrm>
            <a:off x="9429750" y="4191000"/>
            <a:ext cx="2000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7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2F6F73"/>
                </a:solidFill>
                <a:latin typeface="Aptos"/>
                <a:ea typeface="Aptos"/>
                <a:cs typeface="Aptos"/>
              </a:rPr>
              <a:t>Orders.user_id</a:t>
            </a:r>
            <a:endParaRPr sz="2000" b="0" dirty="0">
              <a:solidFill>
                <a:srgbClr val="2F6F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801826-7B74-430A-BB69-F4B7CBCFD9E0}"/>
              </a:ext>
            </a:extLst>
          </p:cNvPr>
          <p:cNvSpPr>
            <a:spLocks noGrp="1"/>
          </p:cNvSpPr>
          <p:nvPr/>
        </p:nvSpPr>
        <p:spPr>
          <a:xfrm>
            <a:off x="8763000" y="4476750"/>
            <a:ext cx="6667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C99A6DC-22DD-4B1F-AE31-1D4D320C18B5}"/>
              </a:ext>
            </a:extLst>
          </p:cNvPr>
          <p:cNvSpPr>
            <a:spLocks noGrp="1"/>
          </p:cNvSpPr>
          <p:nvPr/>
        </p:nvSpPr>
        <p:spPr>
          <a:xfrm>
            <a:off x="8358187" y="4827270"/>
            <a:ext cx="1552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2000" b="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FOREIGN KEY</a:t>
            </a:r>
          </a:p>
        </p:txBody>
      </p:sp>
    </p:spTree>
    <p:extLst>
      <p:ext uri="{BB962C8B-B14F-4D97-AF65-F5344CB8AC3E}">
        <p14:creationId xmlns:p14="http://schemas.microsoft.com/office/powerpoint/2010/main" val="87333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073B5C-A402-450C-9376-651C1193C496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F8757A-E9B7-499B-A914-CE7D96BFD9AF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ru-RU" sz="1000" b="1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КОД: СОСТОЯНИЕ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5CB7184-7184-4A97-A7CC-FFDC195A04E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9525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Undo</a:t>
            </a: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/</a:t>
            </a:r>
            <a:r>
              <a:rPr lang="ru-RU" sz="3600" b="1" dirty="0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Redo</a:t>
            </a: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работает через снимки модели проекта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4EE534-DD85-4DFB-A435-C47AD5153BCE}"/>
              </a:ext>
            </a:extLst>
          </p:cNvPr>
          <p:cNvSpPr>
            <a:spLocks noGrp="1"/>
          </p:cNvSpPr>
          <p:nvPr/>
        </p:nvSpPr>
        <p:spPr>
          <a:xfrm>
            <a:off x="1676400" y="2513076"/>
            <a:ext cx="2095500" cy="609600"/>
          </a:xfrm>
          <a:prstGeom prst="rect">
            <a:avLst/>
          </a:prstGeom>
          <a:solidFill>
            <a:srgbClr val="E5F0F1"/>
          </a:solidFill>
          <a:ln w="9525">
            <a:solidFill>
              <a:srgbClr val="2F6F7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2F6F73"/>
                </a:solidFill>
                <a:latin typeface="Aptos"/>
                <a:ea typeface="Aptos"/>
                <a:cs typeface="Aptos"/>
              </a:rPr>
              <a:t>project.to_dict</a:t>
            </a:r>
            <a:r>
              <a:rPr sz="2000" b="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()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84C6D9-99AA-47B4-B9BF-78C2B5CFF464}"/>
              </a:ext>
            </a:extLst>
          </p:cNvPr>
          <p:cNvSpPr>
            <a:spLocks noGrp="1"/>
          </p:cNvSpPr>
          <p:nvPr/>
        </p:nvSpPr>
        <p:spPr>
          <a:xfrm>
            <a:off x="4724400" y="2513076"/>
            <a:ext cx="1905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undo_stack</a:t>
            </a:r>
            <a:endParaRPr sz="20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8A595CC-35F6-4DA1-B0BA-9205B41697AD}"/>
              </a:ext>
            </a:extLst>
          </p:cNvPr>
          <p:cNvSpPr>
            <a:spLocks noGrp="1"/>
          </p:cNvSpPr>
          <p:nvPr/>
        </p:nvSpPr>
        <p:spPr>
          <a:xfrm>
            <a:off x="7677150" y="2513076"/>
            <a:ext cx="288036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Project.from_dict</a:t>
            </a:r>
            <a:r>
              <a:rPr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(state)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7D5459-33D5-4019-8F98-77AAE3CD49C7}"/>
              </a:ext>
            </a:extLst>
          </p:cNvPr>
          <p:cNvSpPr>
            <a:spLocks noGrp="1"/>
          </p:cNvSpPr>
          <p:nvPr/>
        </p:nvSpPr>
        <p:spPr>
          <a:xfrm>
            <a:off x="3771900" y="2817876"/>
            <a:ext cx="95250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6592E3A-FEC7-4E88-81B5-DAE3E4064B5E}"/>
              </a:ext>
            </a:extLst>
          </p:cNvPr>
          <p:cNvSpPr>
            <a:spLocks noGrp="1"/>
          </p:cNvSpPr>
          <p:nvPr/>
        </p:nvSpPr>
        <p:spPr>
          <a:xfrm>
            <a:off x="6629400" y="2817876"/>
            <a:ext cx="10477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04AE472-49AA-4F53-A9D6-536C327AE6D4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6315456" cy="1792224"/>
          </a:xfrm>
          <a:prstGeom prst="rect">
            <a:avLst/>
          </a:prstGeom>
          <a:solidFill>
            <a:srgbClr val="FBFCFD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D3C75C8-7431-4D94-8F03-521BD42ABD14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514350" cy="1792224"/>
          </a:xfrm>
          <a:prstGeom prst="rect">
            <a:avLst/>
          </a:prstGeom>
          <a:solidFill>
            <a:srgbClr val="EEF3F4"/>
          </a:solidFill>
          <a:ln w="9525">
            <a:solidFill>
              <a:srgbClr val="EEF3F4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B716162-9ED4-4390-AF61-B6D70BB34A85}"/>
              </a:ext>
            </a:extLst>
          </p:cNvPr>
          <p:cNvSpPr>
            <a:spLocks noGrp="1"/>
          </p:cNvSpPr>
          <p:nvPr/>
        </p:nvSpPr>
        <p:spPr>
          <a:xfrm>
            <a:off x="1104900" y="4133850"/>
            <a:ext cx="285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1</a:t>
            </a: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3</a:t>
            </a:r>
            <a:endParaRPr lang="ru-RU" sz="1600" b="0" dirty="0">
              <a:solidFill>
                <a:srgbClr val="8A98A1"/>
              </a:solidFill>
              <a:latin typeface="Aptos Mono"/>
              <a:ea typeface="Aptos Mono"/>
              <a:cs typeface="Aptos Mono"/>
            </a:endParaRPr>
          </a:p>
          <a:p>
            <a:pPr algn="r">
              <a:defRPr sz="1600" b="0">
                <a:solidFill>
                  <a:srgbClr val="8A98A1"/>
                </a:solidFill>
                <a:latin typeface="Aptos Mono"/>
                <a:ea typeface="Aptos Mono"/>
                <a:cs typeface="Aptos Mono"/>
              </a:defRPr>
            </a:pPr>
            <a:r>
              <a:rPr lang="ru-RU" sz="1600" dirty="0">
                <a:solidFill>
                  <a:srgbClr val="8A98A1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206DBD3-4FF9-41FF-9988-02A0620CF62B}"/>
              </a:ext>
            </a:extLst>
          </p:cNvPr>
          <p:cNvSpPr>
            <a:spLocks noGrp="1"/>
          </p:cNvSpPr>
          <p:nvPr/>
        </p:nvSpPr>
        <p:spPr>
          <a:xfrm>
            <a:off x="1676400" y="4133850"/>
            <a:ext cx="5510784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state = 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copy.deepcopy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self.project.to_dict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())</a:t>
            </a:r>
          </a:p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self.undo_stack.append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(state)</a:t>
            </a:r>
          </a:p>
          <a:p>
            <a:pPr algn="l">
              <a:defRPr sz="16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600" b="0" dirty="0" err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self.redo_stack.clear</a:t>
            </a:r>
            <a:r>
              <a:rPr lang="en-US" sz="1600" b="0" dirty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()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CF6308D-08EF-4F4B-903B-FB4351D0EA89}"/>
              </a:ext>
            </a:extLst>
          </p:cNvPr>
          <p:cNvSpPr>
            <a:spLocks noGrp="1"/>
          </p:cNvSpPr>
          <p:nvPr/>
        </p:nvSpPr>
        <p:spPr>
          <a:xfrm>
            <a:off x="7658100" y="4073652"/>
            <a:ext cx="3429000" cy="188747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Один механизм словарей используется для JSON-файла, загрузки проекта и отмены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89223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D891E02-7FBD-4136-8737-18E4E3E3240D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0CFDA4-BF97-49BD-ACD1-8D8DA254982C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SQL-РЕЗУЛЬТАТ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C3C374-EF72-46FD-BF01-1D78E596805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9906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SQL-</a:t>
            </a: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панель показывает готовый </a:t>
            </a:r>
            <a:r>
              <a:rPr lang="en-US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PostgreSQL-</a:t>
            </a: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скрипт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136CEA-D251-4586-9699-1AD0ABC2F648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514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ru-RU" sz="24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Результат можно просмотреть, скопировать в буфер обмена или сохранить в файл.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3B7A248-16A6-423B-B00D-F6602656B671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19050" cy="13335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4B7AE83-1E48-4D4B-B925-5DA758FF77CB}"/>
              </a:ext>
            </a:extLst>
          </p:cNvPr>
          <p:cNvSpPr>
            <a:spLocks noGrp="1"/>
          </p:cNvSpPr>
          <p:nvPr/>
        </p:nvSpPr>
        <p:spPr>
          <a:xfrm>
            <a:off x="7620000" y="409575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PostgreSQL-</a:t>
            </a:r>
            <a:r>
              <a:rPr lang="ru-RU" sz="2400" b="0" dirty="0">
                <a:solidFill>
                  <a:srgbClr val="2F6F73"/>
                </a:solidFill>
                <a:latin typeface="Aptos"/>
                <a:ea typeface="Aptos"/>
                <a:cs typeface="Aptos"/>
              </a:rPr>
              <a:t>типизация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DB9A6EE-BDD5-4106-90EF-C8D3C1504CD4}"/>
              </a:ext>
            </a:extLst>
          </p:cNvPr>
          <p:cNvSpPr>
            <a:spLocks noGrp="1"/>
          </p:cNvSpPr>
          <p:nvPr/>
        </p:nvSpPr>
        <p:spPr>
          <a:xfrm>
            <a:off x="7620000" y="4591050"/>
            <a:ext cx="36195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VARCHAR -&gt; VARCHAR(255)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FLOAT -&gt; DOUBLE PRECISION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DECIMAL -&gt; NUMERIC</a:t>
            </a: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BYTEA -&gt; </a:t>
            </a:r>
            <a:r>
              <a:rPr lang="ru-RU" sz="20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бинарные данные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2286" y="2114550"/>
            <a:ext cx="7212729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8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B5844F-1413-4B54-B162-03C09B54DE09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47650" cy="190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6A647E-0307-4F84-8F7D-8ED079571DE1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0" b="1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F6F73"/>
                </a:solidFill>
                <a:latin typeface="Aptos"/>
                <a:ea typeface="Aptos"/>
                <a:cs typeface="Aptos"/>
              </a:rPr>
              <a:t>ИТОГ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37EDEC-80C7-4724-82E5-4892AED4B4A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9906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Разработано учебное </a:t>
            </a:r>
            <a:r>
              <a:rPr lang="ru-RU" sz="3600" b="1" dirty="0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desktop</a:t>
            </a:r>
            <a:r>
              <a:rPr lang="ru-RU" sz="36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-приложение с полным циклом проектирования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F391F73-90C0-47D2-A804-F2F324E70FF6}"/>
              </a:ext>
            </a:extLst>
          </p:cNvPr>
          <p:cNvSpPr>
            <a:spLocks noGrp="1"/>
          </p:cNvSpPr>
          <p:nvPr/>
        </p:nvSpPr>
        <p:spPr>
          <a:xfrm>
            <a:off x="1508760" y="2486025"/>
            <a:ext cx="2724150" cy="914400"/>
          </a:xfrm>
          <a:prstGeom prst="rect">
            <a:avLst/>
          </a:prstGeom>
          <a:solidFill>
            <a:srgbClr val="F7F9FA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Создание ER-диаграммы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3CFB83-A2A6-405E-987C-BB64A25D5821}"/>
              </a:ext>
            </a:extLst>
          </p:cNvPr>
          <p:cNvSpPr>
            <a:spLocks noGrp="1"/>
          </p:cNvSpPr>
          <p:nvPr/>
        </p:nvSpPr>
        <p:spPr>
          <a:xfrm>
            <a:off x="4613910" y="2486025"/>
            <a:ext cx="2724150" cy="914400"/>
          </a:xfrm>
          <a:prstGeom prst="rect">
            <a:avLst/>
          </a:prstGeom>
          <a:solidFill>
            <a:srgbClr val="F7F9FA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Редактирование сущностей и полей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9C182D5-1F30-4503-8282-108E78DCDE79}"/>
              </a:ext>
            </a:extLst>
          </p:cNvPr>
          <p:cNvSpPr>
            <a:spLocks noGrp="1"/>
          </p:cNvSpPr>
          <p:nvPr/>
        </p:nvSpPr>
        <p:spPr>
          <a:xfrm>
            <a:off x="7719060" y="2486025"/>
            <a:ext cx="2724150" cy="914400"/>
          </a:xfrm>
          <a:prstGeom prst="rect">
            <a:avLst/>
          </a:prstGeom>
          <a:solidFill>
            <a:srgbClr val="F7F9FA"/>
          </a:solidFill>
          <a:ln w="9525">
            <a:solidFill>
              <a:srgbClr val="D5DAD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Связи между атрибутами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C894A5-1C89-4E8C-AABA-C90CFCC898A2}"/>
              </a:ext>
            </a:extLst>
          </p:cNvPr>
          <p:cNvSpPr>
            <a:spLocks noGrp="1"/>
          </p:cNvSpPr>
          <p:nvPr/>
        </p:nvSpPr>
        <p:spPr>
          <a:xfrm>
            <a:off x="4613910" y="3895725"/>
            <a:ext cx="2724150" cy="914400"/>
          </a:xfrm>
          <a:prstGeom prst="rect">
            <a:avLst/>
          </a:prstGeom>
          <a:solidFill>
            <a:srgbClr val="E5F0F1"/>
          </a:solidFill>
          <a:ln w="9525">
            <a:solidFill>
              <a:srgbClr val="2F6F7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2000" b="0">
                <a:solidFill>
                  <a:srgbClr val="2F6F73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2F6F73"/>
                </a:solidFill>
                <a:latin typeface="Aptos"/>
                <a:ea typeface="Aptos"/>
                <a:cs typeface="Aptos"/>
              </a:rPr>
              <a:t>Генерация SQL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E33BD39-A23B-473C-AF92-69B498A3CE69}"/>
              </a:ext>
            </a:extLst>
          </p:cNvPr>
          <p:cNvSpPr>
            <a:spLocks noGrp="1"/>
          </p:cNvSpPr>
          <p:nvPr/>
        </p:nvSpPr>
        <p:spPr>
          <a:xfrm>
            <a:off x="4232910" y="2943225"/>
            <a:ext cx="381000" cy="19050"/>
          </a:xfrm>
          <a:prstGeom prst="rect">
            <a:avLst/>
          </a:prstGeom>
          <a:solidFill>
            <a:srgbClr val="D5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9CBA39-160F-4DBE-8558-5B9E5E3220AF}"/>
              </a:ext>
            </a:extLst>
          </p:cNvPr>
          <p:cNvSpPr>
            <a:spLocks noGrp="1"/>
          </p:cNvSpPr>
          <p:nvPr/>
        </p:nvSpPr>
        <p:spPr>
          <a:xfrm>
            <a:off x="7338060" y="2943225"/>
            <a:ext cx="381000" cy="19050"/>
          </a:xfrm>
          <a:prstGeom prst="rect">
            <a:avLst/>
          </a:prstGeom>
          <a:solidFill>
            <a:srgbClr val="D5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629F158-F668-4A1A-82CD-E7F050449C36}"/>
              </a:ext>
            </a:extLst>
          </p:cNvPr>
          <p:cNvSpPr>
            <a:spLocks noGrp="1"/>
          </p:cNvSpPr>
          <p:nvPr/>
        </p:nvSpPr>
        <p:spPr>
          <a:xfrm>
            <a:off x="5985510" y="3400425"/>
            <a:ext cx="19050" cy="4953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9FF6DC-B0C4-4987-BCFC-47220FB568E3}"/>
              </a:ext>
            </a:extLst>
          </p:cNvPr>
          <p:cNvSpPr>
            <a:spLocks noGrp="1"/>
          </p:cNvSpPr>
          <p:nvPr/>
        </p:nvSpPr>
        <p:spPr>
          <a:xfrm>
            <a:off x="1333500" y="5429250"/>
            <a:ext cx="9429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Возможные улучшения: таблица-посредник для N:N, автосохранение, расширение настроек типов данных и отделение модели от QPointF.</a:t>
            </a:r>
          </a:p>
        </p:txBody>
      </p:sp>
    </p:spTree>
    <p:extLst>
      <p:ext uri="{BB962C8B-B14F-4D97-AF65-F5344CB8AC3E}">
        <p14:creationId xmlns:p14="http://schemas.microsoft.com/office/powerpoint/2010/main" val="14142318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460</Words>
  <Application>Microsoft Office PowerPoint</Application>
  <DocSecurity>0</DocSecurity>
  <PresentationFormat>Широкоэкранный</PresentationFormat>
  <Paragraphs>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Максим Горбунов</cp:lastModifiedBy>
  <cp:revision>3</cp:revision>
  <dcterms:created xsi:type="dcterms:W3CDTF">2026-05-28T16:14:39Z</dcterms:created>
  <dcterms:modified xsi:type="dcterms:W3CDTF">2026-05-28T16:32:46Z</dcterms:modified>
</cp:coreProperties>
</file>